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5"/>
  </p:notesMasterIdLst>
  <p:sldIdLst>
    <p:sldId id="256" r:id="rId3"/>
    <p:sldId id="257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94BA7-0D21-4DC2-8E6A-644269F00EC4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7F911A-9033-4AF3-B413-DB67067FD3E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17095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smtClean="0"/>
          </a:p>
        </p:txBody>
      </p:sp>
      <p:sp>
        <p:nvSpPr>
          <p:cNvPr id="55300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fld id="{EDAB5DDC-F7AE-4730-8578-5AB461D5C26B}" type="slidenum">
              <a:rPr lang="zh-TW" altLang="en-US" smtClean="0">
                <a:solidFill>
                  <a:prstClr val="black"/>
                </a:solidFill>
              </a:rPr>
              <a:pPr/>
              <a:t>2</a:t>
            </a:fld>
            <a:endParaRPr lang="zh-TW" altLang="en-US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413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49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056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8944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0883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2640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246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718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1855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32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9760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0840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7" y="52388"/>
            <a:ext cx="247226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5" name="Rectangle 1"/>
          <p:cNvSpPr>
            <a:spLocks noChangeArrowheads="1"/>
          </p:cNvSpPr>
          <p:nvPr userDrawn="1"/>
        </p:nvSpPr>
        <p:spPr bwMode="auto">
          <a:xfrm>
            <a:off x="0" y="6634164"/>
            <a:ext cx="12211051" cy="223837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800" smtClean="0">
              <a:solidFill>
                <a:prstClr val="black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0" y="6604001"/>
            <a:ext cx="3515784" cy="2714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100800" tIns="50400" rIns="100800" bIns="504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5pPr>
            <a:lvl6pPr marL="25146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6pPr>
            <a:lvl7pPr marL="29718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7pPr>
            <a:lvl8pPr marL="34290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8pPr>
            <a:lvl9pPr marL="38862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1100" dirty="0" smtClean="0">
                <a:solidFill>
                  <a:srgbClr val="FFFFFF"/>
                </a:solidFill>
                <a:ea typeface="新細明體" charset="-120"/>
              </a:rPr>
              <a:t>Copyright  ITRI 工業技術研究院</a:t>
            </a:r>
          </a:p>
        </p:txBody>
      </p:sp>
      <p:sp>
        <p:nvSpPr>
          <p:cNvPr id="7" name="日期版面配置區 14"/>
          <p:cNvSpPr txBox="1">
            <a:spLocks/>
          </p:cNvSpPr>
          <p:nvPr userDrawn="1"/>
        </p:nvSpPr>
        <p:spPr>
          <a:xfrm>
            <a:off x="7344833" y="6634163"/>
            <a:ext cx="2844800" cy="241300"/>
          </a:xfrm>
          <a:prstGeom prst="rect">
            <a:avLst/>
          </a:prstGeom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200" smtClean="0">
              <a:solidFill>
                <a:srgbClr val="F2F2F2"/>
              </a:solidFill>
            </a:endParaRPr>
          </a:p>
        </p:txBody>
      </p:sp>
      <p:sp>
        <p:nvSpPr>
          <p:cNvPr id="8" name="投影片編號版面配置區 16"/>
          <p:cNvSpPr txBox="1">
            <a:spLocks/>
          </p:cNvSpPr>
          <p:nvPr userDrawn="1"/>
        </p:nvSpPr>
        <p:spPr>
          <a:xfrm>
            <a:off x="10991851" y="6634164"/>
            <a:ext cx="1219200" cy="223837"/>
          </a:xfrm>
          <a:prstGeom prst="rect">
            <a:avLst/>
          </a:prstGeom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16512DC9-6942-4F0B-83C7-709A254260A2}" type="slidenum">
              <a:rPr lang="zh-TW" altLang="en-US" sz="1200" smtClean="0">
                <a:solidFill>
                  <a:srgbClr val="F2F2F2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TW" altLang="en-US" sz="1200" smtClean="0">
              <a:solidFill>
                <a:srgbClr val="F2F2F2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105B89-A434-4BEB-AEA4-D81FE31ADB0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9236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7" y="52388"/>
            <a:ext cx="247226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5" name="Rectangle 1"/>
          <p:cNvSpPr>
            <a:spLocks noChangeArrowheads="1"/>
          </p:cNvSpPr>
          <p:nvPr userDrawn="1"/>
        </p:nvSpPr>
        <p:spPr bwMode="auto">
          <a:xfrm>
            <a:off x="0" y="6634164"/>
            <a:ext cx="12211051" cy="223837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800" smtClean="0">
              <a:solidFill>
                <a:prstClr val="black"/>
              </a:solidFill>
            </a:endParaRPr>
          </a:p>
        </p:txBody>
      </p:sp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0" y="6604001"/>
            <a:ext cx="3515784" cy="2714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100800" tIns="50400" rIns="100800" bIns="504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5pPr>
            <a:lvl6pPr marL="25146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6pPr>
            <a:lvl7pPr marL="29718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7pPr>
            <a:lvl8pPr marL="34290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8pPr>
            <a:lvl9pPr marL="38862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1100" dirty="0" smtClean="0">
                <a:solidFill>
                  <a:srgbClr val="FFFFFF"/>
                </a:solidFill>
                <a:ea typeface="新細明體" charset="-120"/>
              </a:rPr>
              <a:t>Copyright  ITRI 工業技術研究院</a:t>
            </a:r>
          </a:p>
        </p:txBody>
      </p:sp>
      <p:sp>
        <p:nvSpPr>
          <p:cNvPr id="7" name="日期版面配置區 14"/>
          <p:cNvSpPr txBox="1">
            <a:spLocks/>
          </p:cNvSpPr>
          <p:nvPr userDrawn="1"/>
        </p:nvSpPr>
        <p:spPr>
          <a:xfrm>
            <a:off x="7344833" y="6634163"/>
            <a:ext cx="2844800" cy="241300"/>
          </a:xfrm>
          <a:prstGeom prst="rect">
            <a:avLst/>
          </a:prstGeom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200" smtClean="0">
              <a:solidFill>
                <a:srgbClr val="F2F2F2"/>
              </a:solidFill>
            </a:endParaRPr>
          </a:p>
        </p:txBody>
      </p:sp>
      <p:sp>
        <p:nvSpPr>
          <p:cNvPr id="8" name="投影片編號版面配置區 16"/>
          <p:cNvSpPr txBox="1">
            <a:spLocks/>
          </p:cNvSpPr>
          <p:nvPr userDrawn="1"/>
        </p:nvSpPr>
        <p:spPr>
          <a:xfrm>
            <a:off x="10991851" y="6634164"/>
            <a:ext cx="1219200" cy="223837"/>
          </a:xfrm>
          <a:prstGeom prst="rect">
            <a:avLst/>
          </a:prstGeom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fld id="{1B8D5A11-4BCA-4C1E-9573-DA9C2F714173}" type="slidenum">
              <a:rPr lang="zh-TW" altLang="en-US" sz="1200" smtClean="0">
                <a:solidFill>
                  <a:srgbClr val="F2F2F2"/>
                </a:solidFill>
              </a:rPr>
              <a:pPr algn="r" eaLnBrk="1" fontAlgn="base" hangingPunct="1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TW" altLang="en-US" sz="1200" smtClean="0">
              <a:solidFill>
                <a:srgbClr val="F2F2F2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14" name="標題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9" name="日期版面配置區 2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99B013-2D74-4E20-A984-DF1FBEF3A15D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10" name="頁尾版面配置區 2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1" name="投影片編號版面配置區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5CC3A6-C96D-45B7-B083-571805E3C27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9270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 userDrawn="1"/>
        </p:nvSpPr>
        <p:spPr bwMode="auto">
          <a:xfrm>
            <a:off x="0" y="6634164"/>
            <a:ext cx="12211051" cy="223837"/>
          </a:xfrm>
          <a:prstGeom prst="rect">
            <a:avLst/>
          </a:prstGeom>
          <a:solidFill>
            <a:srgbClr val="009F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Calibri" pitchFamily="34" charset="0"/>
                <a:ea typeface="新細明體" pitchFamily="18" charset="-12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endParaRPr lang="zh-TW" altLang="en-US" sz="1800" smtClean="0">
              <a:solidFill>
                <a:prstClr val="white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67" y="52388"/>
            <a:ext cx="247226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 userDrawn="1"/>
        </p:nvSpPr>
        <p:spPr bwMode="auto">
          <a:xfrm>
            <a:off x="0" y="6604001"/>
            <a:ext cx="3515784" cy="27146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100800" tIns="50400" rIns="100800" bIns="50400">
            <a:spAutoFit/>
          </a:bodyPr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5pPr>
            <a:lvl6pPr marL="25146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6pPr>
            <a:lvl7pPr marL="29718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7pPr>
            <a:lvl8pPr marL="34290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8pPr>
            <a:lvl9pPr marL="3886200" indent="-228600" defTabSz="457200" fontAlgn="base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sz="1100" dirty="0" smtClean="0">
                <a:solidFill>
                  <a:srgbClr val="FFFFFF"/>
                </a:solidFill>
                <a:ea typeface="新細明體" charset="-120"/>
              </a:rPr>
              <a:t>Copyright  ITRI </a:t>
            </a:r>
            <a:r>
              <a:rPr kumimoji="1" lang="en-US" sz="1100" dirty="0" err="1" smtClean="0">
                <a:solidFill>
                  <a:srgbClr val="FFFFFF"/>
                </a:solidFill>
                <a:ea typeface="新細明體" charset="-120"/>
              </a:rPr>
              <a:t>工業技術研究院</a:t>
            </a:r>
            <a:endParaRPr kumimoji="1" lang="en-US" sz="1100" dirty="0" smtClean="0">
              <a:solidFill>
                <a:srgbClr val="FFFFFF"/>
              </a:solidFill>
              <a:ea typeface="新細明體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10"/>
          </p:nvPr>
        </p:nvSpPr>
        <p:spPr>
          <a:xfrm>
            <a:off x="0" y="6253164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5"/>
          <p:cNvSpPr>
            <a:spLocks noGrp="1"/>
          </p:cNvSpPr>
          <p:nvPr>
            <p:ph type="sldNum" sz="quarter" idx="11"/>
          </p:nvPr>
        </p:nvSpPr>
        <p:spPr>
          <a:xfrm>
            <a:off x="11279717" y="6634164"/>
            <a:ext cx="912283" cy="223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AD8BF6C-8AB0-4C3D-84FF-E9BD90BDEC81}" type="slidenum">
              <a:rPr lang="zh-TW" altLang="en-US">
                <a:solidFill>
                  <a:prstClr val="white"/>
                </a:solidFill>
              </a:rPr>
              <a:pPr>
                <a:defRPr/>
              </a:pPr>
              <a:t>‹#›</a:t>
            </a:fld>
            <a:endParaRPr lang="zh-TW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635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4685B9-4C89-4ED6-B077-5F7478652084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CFD43-C3B2-472E-91C9-FBEF691A7CB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9578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1B0AF0-7B5A-418F-AE79-1AE55D424EC4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7EB14-18B9-4B0B-A893-F92EF05148A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8508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ECCF2-B5B5-4F27-92DD-47208A999127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8108DC-42C6-4990-A67E-BA78145D59F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7778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3C3E15-F6AD-4B00-8264-A707CC1CAD4A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62BDA-96DE-4A68-85DA-A6F0F8A37E6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35879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333EF1-2662-41EF-A42B-FF2C87CF588E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B7EC77-F1F1-4F83-9AF6-BF46ED26FDA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461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3DFADB-4BEB-446E-AE62-D35725649DC0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0BB90-BEDC-4B2B-A5F0-7B3CD4A293AE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790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307BD-BAFA-47BB-8BC6-AC216278BA99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287EC-D29B-45DF-BFD8-FF493B21709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16423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5EFD3-DC6F-4295-AEB9-0C9E6D40B1E4}" type="datetimeFigureOut">
              <a:rPr lang="zh-TW" altLang="en-US"/>
              <a:pPr>
                <a:defRPr/>
              </a:pPr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8BAA1-FED1-4C9E-84E1-74E361EFF0F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34122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14867" y="82551"/>
            <a:ext cx="10972800" cy="84137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192618" y="1169988"/>
            <a:ext cx="11696700" cy="5210175"/>
          </a:xfrm>
        </p:spPr>
        <p:txBody>
          <a:bodyPr/>
          <a:lstStyle/>
          <a:p>
            <a:pPr lvl="0"/>
            <a:endParaRPr lang="zh-TW" altLang="en-US" noProof="0" smtClean="0"/>
          </a:p>
        </p:txBody>
      </p:sp>
      <p:sp>
        <p:nvSpPr>
          <p:cNvPr id="4" name="Rectangle 4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A45729-60BE-4F5F-8493-B9EAAAD7927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5" name="Rectangle 46"/>
          <p:cNvSpPr>
            <a:spLocks noGrp="1" noChangeArrowheads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Calibri" pitchFamily="34" charset="0"/>
                <a:ea typeface="新細明體" charset="-120"/>
                <a:cs typeface="+mn-cs"/>
              </a:defRPr>
            </a:lvl1pPr>
          </a:lstStyle>
          <a:p>
            <a:pPr>
              <a:defRPr/>
            </a:pPr>
            <a:r>
              <a:rPr lang="en-US" altLang="zh-TW">
                <a:solidFill>
                  <a:prstClr val="black">
                    <a:tint val="75000"/>
                  </a:prstClr>
                </a:solidFill>
              </a:rPr>
              <a:t>Y200/ICL</a:t>
            </a:r>
          </a:p>
        </p:txBody>
      </p:sp>
      <p:sp>
        <p:nvSpPr>
          <p:cNvPr id="6" name="Rectangle 4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588659-0755-4B95-820B-5201A3F7D87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32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DF817-F82A-4ED1-BD81-6081B90175D1}" type="datetimeFigureOut">
              <a:rPr lang="zh-TW" altLang="en-US" smtClean="0"/>
              <a:t>2017/10/13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8AA14-B885-48D3-A8E1-98FC6FAD90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82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8195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F50434-3D82-494B-98B9-8B8F097789C7}" type="datetimeFigureOut">
              <a:rPr kumimoji="1" lang="zh-TW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2017/10/13</a:t>
            </a:fld>
            <a:endParaRPr kumimoji="1"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7601184-CD38-48B2-A339-409F14A92FD4}" type="slidenum">
              <a:rPr kumimoji="1" lang="zh-TW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649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新細明體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新細明體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新細明體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新細明體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新細明體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新細明體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b="1" smtClean="0"/>
              <a:t>Radio Admission Control Algorithm</a:t>
            </a:r>
          </a:p>
          <a:p>
            <a:pPr lvl="1"/>
            <a:r>
              <a:rPr lang="en-US" altLang="zh-TW" b="1" smtClean="0"/>
              <a:t>Priority GBR Based</a:t>
            </a:r>
          </a:p>
          <a:p>
            <a:pPr lvl="2"/>
            <a:r>
              <a:rPr lang="en-US" altLang="zh-TW" b="1" smtClean="0"/>
              <a:t>Pros</a:t>
            </a:r>
          </a:p>
          <a:p>
            <a:pPr lvl="3"/>
            <a:r>
              <a:rPr lang="en-US" altLang="zh-TW" smtClean="0"/>
              <a:t>High priority GBR requests are granted first</a:t>
            </a:r>
          </a:p>
          <a:p>
            <a:pPr lvl="3"/>
            <a:r>
              <a:rPr lang="en-US" altLang="zh-TW" smtClean="0"/>
              <a:t>In contention situation, higher priority E-utran Radio Access Bearer (ERABs) can pre-empt lower priority ones</a:t>
            </a:r>
            <a:endParaRPr lang="en-US" altLang="zh-TW" b="1" smtClean="0"/>
          </a:p>
          <a:p>
            <a:pPr lvl="2"/>
            <a:r>
              <a:rPr lang="en-US" altLang="zh-TW" b="1" smtClean="0"/>
              <a:t>Cons</a:t>
            </a:r>
          </a:p>
          <a:p>
            <a:pPr lvl="3"/>
            <a:r>
              <a:rPr lang="en-US" altLang="zh-TW" smtClean="0"/>
              <a:t>Pre-emption would lead to release of lower priority ERABs</a:t>
            </a:r>
            <a:endParaRPr lang="zh-TW" altLang="en-US" smtClean="0"/>
          </a:p>
        </p:txBody>
      </p:sp>
      <p:sp>
        <p:nvSpPr>
          <p:cNvPr id="53251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RRC</a:t>
            </a:r>
            <a:endParaRPr lang="zh-TW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6302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150" y="6351"/>
            <a:ext cx="5689600" cy="655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5" name="矩形 5"/>
          <p:cNvSpPr>
            <a:spLocks noChangeArrowheads="1"/>
          </p:cNvSpPr>
          <p:nvPr/>
        </p:nvSpPr>
        <p:spPr bwMode="auto">
          <a:xfrm>
            <a:off x="6096000" y="325438"/>
            <a:ext cx="3894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TW" sz="1800" b="1">
                <a:solidFill>
                  <a:prstClr val="black"/>
                </a:solidFill>
              </a:rPr>
              <a:t>Priority GBR Based</a:t>
            </a:r>
            <a:r>
              <a:rPr kumimoji="1" lang="zh-TW" altLang="en-US" sz="1800" b="1">
                <a:solidFill>
                  <a:prstClr val="black"/>
                </a:solidFill>
              </a:rPr>
              <a:t> </a:t>
            </a:r>
            <a:r>
              <a:rPr kumimoji="1" lang="en-US" altLang="zh-TW" sz="1800" b="1">
                <a:solidFill>
                  <a:prstClr val="black"/>
                </a:solidFill>
              </a:rPr>
              <a:t>RAC</a:t>
            </a:r>
            <a:r>
              <a:rPr kumimoji="1" lang="zh-TW" altLang="en-US" sz="1800" b="1">
                <a:solidFill>
                  <a:prstClr val="black"/>
                </a:solidFill>
              </a:rPr>
              <a:t> </a:t>
            </a:r>
            <a:r>
              <a:rPr kumimoji="1" lang="en-US" altLang="zh-TW" sz="1800" b="1">
                <a:solidFill>
                  <a:prstClr val="black"/>
                </a:solidFill>
              </a:rPr>
              <a:t>Algorithm</a:t>
            </a:r>
          </a:p>
        </p:txBody>
      </p:sp>
      <p:sp>
        <p:nvSpPr>
          <p:cNvPr id="7" name="矩形圖說文字 6"/>
          <p:cNvSpPr/>
          <p:nvPr/>
        </p:nvSpPr>
        <p:spPr>
          <a:xfrm>
            <a:off x="2271713" y="3716339"/>
            <a:ext cx="2209800" cy="612775"/>
          </a:xfrm>
          <a:prstGeom prst="wedgeRectCallout">
            <a:avLst>
              <a:gd name="adj1" fmla="val 80134"/>
              <a:gd name="adj2" fmla="val 163607"/>
            </a:avLst>
          </a:prstGeom>
          <a:noFill/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Is available BW UL/DL </a:t>
            </a:r>
            <a:r>
              <a:rPr kumimoji="1" lang="en-US" altLang="zh-TW" dirty="0">
                <a:solidFill>
                  <a:srgbClr val="FF0000"/>
                </a:solidFill>
              </a:rPr>
              <a:t>&gt;</a:t>
            </a:r>
            <a:r>
              <a:rPr kumimoji="1" lang="en-US" altLang="zh-TW" dirty="0">
                <a:solidFill>
                  <a:prstClr val="black"/>
                </a:solidFill>
              </a:rPr>
              <a:t> GBR UL/DL?</a:t>
            </a:r>
            <a:endParaRPr kumimoji="1" lang="zh-TW" altLang="en-US" dirty="0">
              <a:solidFill>
                <a:prstClr val="black"/>
              </a:solidFill>
            </a:endParaRPr>
          </a:p>
        </p:txBody>
      </p:sp>
      <p:sp>
        <p:nvSpPr>
          <p:cNvPr id="8" name="橢圓 7"/>
          <p:cNvSpPr/>
          <p:nvPr/>
        </p:nvSpPr>
        <p:spPr>
          <a:xfrm>
            <a:off x="5375276" y="5805488"/>
            <a:ext cx="288925" cy="215900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prstClr val="white"/>
              </a:solidFill>
            </a:endParaRPr>
          </a:p>
        </p:txBody>
      </p:sp>
      <p:sp>
        <p:nvSpPr>
          <p:cNvPr id="9" name="矩形圖說文字 8"/>
          <p:cNvSpPr/>
          <p:nvPr/>
        </p:nvSpPr>
        <p:spPr>
          <a:xfrm>
            <a:off x="2995613" y="6015038"/>
            <a:ext cx="914400" cy="360362"/>
          </a:xfrm>
          <a:prstGeom prst="wedgeRectCallout">
            <a:avLst>
              <a:gd name="adj1" fmla="val 200564"/>
              <a:gd name="adj2" fmla="val -57594"/>
            </a:avLst>
          </a:prstGeom>
          <a:noFill/>
          <a:ln w="63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TW" dirty="0">
                <a:solidFill>
                  <a:prstClr val="black"/>
                </a:solidFill>
              </a:rPr>
              <a:t>DRB?</a:t>
            </a:r>
            <a:endParaRPr kumimoji="1" lang="zh-TW" altLang="en-US" dirty="0">
              <a:solidFill>
                <a:prstClr val="black"/>
              </a:solidFill>
            </a:endParaRPr>
          </a:p>
        </p:txBody>
      </p:sp>
      <p:sp>
        <p:nvSpPr>
          <p:cNvPr id="10" name="橢圓 9"/>
          <p:cNvSpPr/>
          <p:nvPr/>
        </p:nvSpPr>
        <p:spPr>
          <a:xfrm>
            <a:off x="5448301" y="3357564"/>
            <a:ext cx="436563" cy="142875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prstClr val="white"/>
              </a:solidFill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5408614" y="3500438"/>
            <a:ext cx="687387" cy="144462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zh-TW" altLang="en-US">
              <a:solidFill>
                <a:prstClr val="white"/>
              </a:solidFill>
            </a:endParaRPr>
          </a:p>
        </p:txBody>
      </p:sp>
      <p:sp>
        <p:nvSpPr>
          <p:cNvPr id="54281" name="文字方塊 11"/>
          <p:cNvSpPr txBox="1">
            <a:spLocks noChangeArrowheads="1"/>
          </p:cNvSpPr>
          <p:nvPr/>
        </p:nvSpPr>
        <p:spPr bwMode="auto">
          <a:xfrm>
            <a:off x="5316539" y="2420938"/>
            <a:ext cx="3270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1" lang="en-US" altLang="zh-TW" sz="2400" b="1">
                <a:solidFill>
                  <a:srgbClr val="FF0000"/>
                </a:solidFill>
              </a:rPr>
              <a:t>?</a:t>
            </a:r>
            <a:endParaRPr kumimoji="1" lang="zh-TW" altLang="en-US" sz="24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3166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寬螢幕</PresentationFormat>
  <Paragraphs>13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Office 佈景主題</vt:lpstr>
      <vt:lpstr>1_Office 佈景主題</vt:lpstr>
      <vt:lpstr>RRC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RRM</dc:title>
  <dc:creator>葉昌國</dc:creator>
  <cp:lastModifiedBy>kenny</cp:lastModifiedBy>
  <cp:revision>4</cp:revision>
  <dcterms:created xsi:type="dcterms:W3CDTF">2014-12-18T01:41:04Z</dcterms:created>
  <dcterms:modified xsi:type="dcterms:W3CDTF">2017-10-13T05:54:46Z</dcterms:modified>
</cp:coreProperties>
</file>